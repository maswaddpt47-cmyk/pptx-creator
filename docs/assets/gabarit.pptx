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358622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42731587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06/08/2026</a:t>
            </a:fld>
            <a:endParaRPr lang="fr-FR"/>
          </a:p>
        </p:txBody>
      </p:sp>
      <p:sp>
        <p:nvSpPr>
          <p:cNvPr id="1016187004" name="Espace réservé pour l'image de la diapositive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61105016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1933157113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98802085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393411" name="Espace réservé pour l'image de la diapositiv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2607807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411163052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14460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488552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87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165B98-2E36-080B-0655-34EFED2370A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4301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51109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880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7ED5F6-A6CF-C65B-7349-5BF575124B56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4672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58095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3008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F06B84-010D-D48E-2B36-44FCCB83A7ED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F33F84-1991-A86D-409D-626D16C5EAF9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8EA12-01A9-E72E-DCF7-E7F579EBCC28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9418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991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684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FA6538-2EC2-3FBB-8386-2DD6AF7E7C03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47CD1C-9361-126E-5F37-62E1F28E95FD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99710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7349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218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D67DDB-D468-A861-EE15-38D3C91108C3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06015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00404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3621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600292-BDE3-76AB-0B69-62C9F3C68284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129359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402380845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</a:p>
        </p:txBody>
      </p:sp>
      <p:sp>
        <p:nvSpPr>
          <p:cNvPr id="1595416778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06/08/2026</a:t>
            </a:fld>
            <a:endParaRPr lang="fr-FR"/>
          </a:p>
        </p:txBody>
      </p:sp>
      <p:sp>
        <p:nvSpPr>
          <p:cNvPr id="134792173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7196296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14990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1740387077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184323438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06/08/2026</a:t>
            </a:fld>
            <a:endParaRPr lang="fr-FR"/>
          </a:p>
        </p:txBody>
      </p:sp>
      <p:sp>
        <p:nvSpPr>
          <p:cNvPr id="122339611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7814628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731077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8883665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2529196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06/08/2026</a:t>
            </a:fld>
            <a:endParaRPr lang="fr-FR"/>
          </a:p>
        </p:txBody>
      </p:sp>
      <p:sp>
        <p:nvSpPr>
          <p:cNvPr id="186731110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4178858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2166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789990536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174169599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428987563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06/08/2026</a:t>
            </a:fld>
            <a:endParaRPr lang="fr-FR"/>
          </a:p>
        </p:txBody>
      </p:sp>
      <p:sp>
        <p:nvSpPr>
          <p:cNvPr id="1420703227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97918758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200959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44746099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72866412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1848491484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915451195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1240267910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06/08/2026</a:t>
            </a:fld>
            <a:endParaRPr lang="fr-FR"/>
          </a:p>
        </p:txBody>
      </p:sp>
      <p:sp>
        <p:nvSpPr>
          <p:cNvPr id="2003421479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61856531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73087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1399080430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06/08/2026</a:t>
            </a:fld>
            <a:endParaRPr lang="fr-FR"/>
          </a:p>
        </p:txBody>
      </p:sp>
      <p:sp>
        <p:nvSpPr>
          <p:cNvPr id="678817201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20259241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433425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06/08/2026</a:t>
            </a:fld>
            <a:endParaRPr lang="fr-FR"/>
          </a:p>
        </p:txBody>
      </p:sp>
      <p:sp>
        <p:nvSpPr>
          <p:cNvPr id="610211070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16586499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008850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1177226431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1863133266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218090073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06/08/2026</a:t>
            </a:fld>
            <a:endParaRPr lang="fr-FR"/>
          </a:p>
        </p:txBody>
      </p:sp>
      <p:sp>
        <p:nvSpPr>
          <p:cNvPr id="1340910940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90432210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519833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791796394" name="Espace réservé pour une image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</a:p>
        </p:txBody>
      </p:sp>
      <p:sp>
        <p:nvSpPr>
          <p:cNvPr id="83369537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201054630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06/08/2026</a:t>
            </a:fld>
            <a:endParaRPr lang="fr-FR"/>
          </a:p>
        </p:txBody>
      </p:sp>
      <p:sp>
        <p:nvSpPr>
          <p:cNvPr id="132780438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21831388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18310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2100522810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99088392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06/08/2026</a:t>
            </a:fld>
            <a:endParaRPr lang="fr-FR"/>
          </a:p>
        </p:txBody>
      </p:sp>
      <p:sp>
        <p:nvSpPr>
          <p:cNvPr id="7259074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8701961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646200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20939893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</a:p>
          <a:p>
            <a:pPr lvl="1">
              <a:defRPr/>
            </a:pPr>
            <a:r>
              <a:rPr lang="fr-FR"/>
              <a:t>Deuxième niveau</a:t>
            </a:r>
          </a:p>
          <a:p>
            <a:pPr lvl="2">
              <a:defRPr/>
            </a:pPr>
            <a:r>
              <a:rPr lang="fr-FR"/>
              <a:t>Troisième niveau</a:t>
            </a:r>
          </a:p>
          <a:p>
            <a:pPr lvl="3">
              <a:defRPr/>
            </a:pPr>
            <a:r>
              <a:rPr lang="fr-FR"/>
              <a:t>Quatrième niveau</a:t>
            </a:r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56117522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06/08/2026</a:t>
            </a:fld>
            <a:endParaRPr lang="fr-FR"/>
          </a:p>
        </p:txBody>
      </p:sp>
      <p:sp>
        <p:nvSpPr>
          <p:cNvPr id="106743948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7804497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59905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200" b="1">
                <a:solidFill>
                  <a:srgbClr val="4389B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</a:p>
        </p:txBody>
      </p:sp>
      <p:sp>
        <p:nvSpPr>
          <p:cNvPr id="36266253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 b="1">
                <a:solidFill>
                  <a:srgbClr val="4389BD"/>
                </a:solidFill>
                <a:latin typeface="Calibri"/>
                <a:ea typeface="Calibri"/>
                <a:cs typeface="Calibri"/>
              </a:defRPr>
            </a:lvl1pPr>
            <a:lvl2pPr>
              <a:buFont typeface="Arial"/>
              <a:buChar char="•"/>
              <a:defRPr>
                <a:latin typeface="Calibri"/>
                <a:ea typeface="Calibri"/>
                <a:cs typeface="Calibri"/>
              </a:defRPr>
            </a:lvl2pPr>
            <a:lvl3pPr>
              <a:defRPr>
                <a:latin typeface="Calibri"/>
                <a:ea typeface="Calibri"/>
                <a:cs typeface="Calibri"/>
              </a:defRPr>
            </a:lvl3pPr>
            <a:lvl4pPr>
              <a:defRPr>
                <a:latin typeface="Calibri"/>
                <a:ea typeface="Calibri"/>
                <a:cs typeface="Calibri"/>
              </a:defRPr>
            </a:lvl4pPr>
            <a:lvl5pPr>
              <a:defRPr>
                <a:latin typeface="Calibri"/>
                <a:ea typeface="Calibri"/>
                <a:cs typeface="Calibri"/>
              </a:defRPr>
            </a:lvl5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</a:p>
        </p:txBody>
      </p:sp>
      <p:sp>
        <p:nvSpPr>
          <p:cNvPr id="959798956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06/08/2026</a:t>
            </a:fld>
            <a:endParaRPr lang="fr-FR"/>
          </a:p>
        </p:txBody>
      </p:sp>
      <p:sp>
        <p:nvSpPr>
          <p:cNvPr id="539487783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2796281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hangingPunct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hangingPunct="1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otetgaronne.fr/inclusion-numerique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://inclusion-numerique@lotetgaronne.fr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912156" name="Title 1"/>
          <p:cNvSpPr>
            <a:spLocks noGrp="1"/>
          </p:cNvSpPr>
          <p:nvPr>
            <p:ph type="ctrTitle"/>
          </p:nvPr>
        </p:nvSpPr>
        <p:spPr bwMode="auto">
          <a:xfrm>
            <a:off x="1523999" y="1294501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fr-FR" sz="5400" b="1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Titre de l’atelier</a:t>
            </a:r>
            <a:endParaRPr sz="5400" b="1">
              <a:solidFill>
                <a:srgbClr val="4389BD"/>
              </a:solidFill>
              <a:latin typeface="Calibri"/>
              <a:cs typeface="Calibri"/>
            </a:endParaRPr>
          </a:p>
        </p:txBody>
      </p:sp>
      <p:sp>
        <p:nvSpPr>
          <p:cNvPr id="1448981801" name="Subtitle 2"/>
          <p:cNvSpPr>
            <a:spLocks noGrp="1"/>
          </p:cNvSpPr>
          <p:nvPr>
            <p:ph type="subTitle" idx="1"/>
          </p:nvPr>
        </p:nvSpPr>
        <p:spPr bwMode="auto">
          <a:xfrm>
            <a:off x="0" y="-35823"/>
            <a:ext cx="12191999" cy="1344076"/>
          </a:xfrm>
          <a:prstGeom prst="rect">
            <a:avLst/>
          </a:prstGeom>
          <a:solidFill>
            <a:srgbClr val="B6C932"/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>
              <a:defRPr/>
            </a:pPr>
            <a:r>
              <a:rPr lang="fr-FR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X - GRANDE THÉMATIQUE</a:t>
            </a:r>
            <a:endParaRPr sz="3200" b="1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607343600" name="Rectangle à coins arrondis 6"/>
          <p:cNvSpPr/>
          <p:nvPr/>
        </p:nvSpPr>
        <p:spPr bwMode="auto">
          <a:xfrm>
            <a:off x="-98169" y="3035409"/>
            <a:ext cx="1123407" cy="300444"/>
          </a:xfrm>
          <a:prstGeom prst="roundRect">
            <a:avLst>
              <a:gd name="adj" fmla="val 16667"/>
            </a:avLst>
          </a:prstGeom>
          <a:solidFill>
            <a:srgbClr val="4389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FF7C80"/>
              </a:solidFill>
            </a:endParaRPr>
          </a:p>
        </p:txBody>
      </p:sp>
      <p:pic>
        <p:nvPicPr>
          <p:cNvPr id="1629871240" name="Image 162987123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098824" y="5774327"/>
            <a:ext cx="1002791" cy="908779"/>
          </a:xfrm>
          <a:prstGeom prst="rect">
            <a:avLst/>
          </a:prstGeom>
        </p:spPr>
      </p:pic>
      <p:pic>
        <p:nvPicPr>
          <p:cNvPr id="337125094" name="Image 33712509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72138" y="5774327"/>
            <a:ext cx="2904578" cy="913973"/>
          </a:xfrm>
          <a:prstGeom prst="rect">
            <a:avLst/>
          </a:prstGeom>
        </p:spPr>
      </p:pic>
      <p:pic>
        <p:nvPicPr>
          <p:cNvPr id="878294402" name="Image 87829440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529367" y="6005130"/>
            <a:ext cx="2377435" cy="447173"/>
          </a:xfrm>
          <a:prstGeom prst="rect">
            <a:avLst/>
          </a:prstGeom>
        </p:spPr>
      </p:pic>
      <p:pic>
        <p:nvPicPr>
          <p:cNvPr id="812889291" name="Image 812889290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203562" y="5859286"/>
            <a:ext cx="1617792" cy="5956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337783" name="Titre 1"/>
          <p:cNvSpPr>
            <a:spLocks noGrp="1"/>
          </p:cNvSpPr>
          <p:nvPr>
            <p:ph type="title"/>
          </p:nvPr>
        </p:nvSpPr>
        <p:spPr bwMode="auto">
          <a:xfrm>
            <a:off x="1153914" y="-22951"/>
            <a:ext cx="10199884" cy="1365631"/>
          </a:xfrm>
        </p:spPr>
        <p:txBody>
          <a:bodyPr/>
          <a:lstStyle/>
          <a:p>
            <a:pPr>
              <a:defRPr/>
            </a:pPr>
            <a:r>
              <a:rPr lang="fr-FR" sz="4000" b="1" i="0" u="none" strike="noStrike" cap="none" spc="0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Le Département en quelques mots...</a:t>
            </a:r>
            <a:endParaRPr sz="4000" b="1">
              <a:solidFill>
                <a:srgbClr val="4389BD"/>
              </a:solidFill>
              <a:latin typeface="Calibri"/>
              <a:cs typeface="Calibri"/>
            </a:endParaRPr>
          </a:p>
        </p:txBody>
      </p:sp>
      <p:sp>
        <p:nvSpPr>
          <p:cNvPr id="1598340984" name="Rectangle à coins arrondis 6"/>
          <p:cNvSpPr/>
          <p:nvPr/>
        </p:nvSpPr>
        <p:spPr bwMode="auto">
          <a:xfrm>
            <a:off x="-98169" y="521929"/>
            <a:ext cx="1123407" cy="300444"/>
          </a:xfrm>
          <a:prstGeom prst="roundRect">
            <a:avLst>
              <a:gd name="adj" fmla="val 16667"/>
            </a:avLst>
          </a:prstGeom>
          <a:solidFill>
            <a:srgbClr val="B6C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FF7C80"/>
              </a:solidFill>
            </a:endParaRPr>
          </a:p>
        </p:txBody>
      </p:sp>
      <p:cxnSp>
        <p:nvCxnSpPr>
          <p:cNvPr id="2143664538" name="Connecteur droit 2143664537"/>
          <p:cNvCxnSpPr/>
          <p:nvPr/>
        </p:nvCxnSpPr>
        <p:spPr bwMode="auto">
          <a:xfrm flipV="1">
            <a:off x="-98169" y="1342679"/>
            <a:ext cx="12435940" cy="0"/>
          </a:xfrm>
          <a:prstGeom prst="line">
            <a:avLst/>
          </a:prstGeom>
          <a:ln w="57150" cap="flat" cmpd="sng" algn="ctr">
            <a:solidFill>
              <a:srgbClr val="4389BD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7617220" name="Picture 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3873" y="2605340"/>
            <a:ext cx="3524248" cy="2524386"/>
          </a:xfrm>
          <a:prstGeom prst="rect">
            <a:avLst/>
          </a:prstGeom>
        </p:spPr>
      </p:pic>
      <p:pic>
        <p:nvPicPr>
          <p:cNvPr id="1840159285" name="Picture 3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333873" y="2605340"/>
            <a:ext cx="3524248" cy="2528235"/>
          </a:xfrm>
          <a:prstGeom prst="rect">
            <a:avLst/>
          </a:prstGeom>
        </p:spPr>
      </p:pic>
      <p:pic>
        <p:nvPicPr>
          <p:cNvPr id="1195038268" name="Picture 4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143875" y="2605340"/>
            <a:ext cx="3524248" cy="2528235"/>
          </a:xfrm>
          <a:prstGeom prst="rect">
            <a:avLst/>
          </a:prstGeom>
        </p:spPr>
      </p:pic>
      <p:pic>
        <p:nvPicPr>
          <p:cNvPr id="2089094889" name="Picture 5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38197" y="2919665"/>
            <a:ext cx="533398" cy="533398"/>
          </a:xfrm>
          <a:prstGeom prst="rect">
            <a:avLst/>
          </a:prstGeom>
        </p:spPr>
      </p:pic>
      <p:sp>
        <p:nvSpPr>
          <p:cNvPr id="1663396225" name="TextBox 6"/>
          <p:cNvSpPr txBox="1"/>
          <p:nvPr/>
        </p:nvSpPr>
        <p:spPr bwMode="auto">
          <a:xfrm>
            <a:off x="1549704" y="2820425"/>
            <a:ext cx="3043980" cy="731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400" b="1" i="0" u="none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Solidarité </a:t>
            </a:r>
            <a:br>
              <a:rPr sz="2400" b="1" i="0" u="none">
                <a:solidFill>
                  <a:srgbClr val="4389BD"/>
                </a:solidFill>
                <a:latin typeface="Calibri"/>
                <a:ea typeface="Calibri"/>
                <a:cs typeface="Calibri"/>
              </a:rPr>
            </a:br>
            <a:r>
              <a:rPr sz="2400" b="1" i="0" u="none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&amp; Santé</a:t>
            </a:r>
            <a:endParaRPr sz="2400" b="1">
              <a:solidFill>
                <a:srgbClr val="4389BD"/>
              </a:solidFill>
              <a:latin typeface="Calibri"/>
              <a:cs typeface="Calibri"/>
            </a:endParaRPr>
          </a:p>
        </p:txBody>
      </p:sp>
      <p:sp>
        <p:nvSpPr>
          <p:cNvPr id="1463090995" name="TextBox 7"/>
          <p:cNvSpPr txBox="1"/>
          <p:nvPr/>
        </p:nvSpPr>
        <p:spPr bwMode="auto">
          <a:xfrm>
            <a:off x="838197" y="3715896"/>
            <a:ext cx="2897758" cy="1180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7"/>
              </a:lnSpc>
              <a:defRPr/>
            </a:pPr>
            <a:r>
              <a:rPr sz="16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Protection maternelle et infantile (PMI), accompagnement de la dépendance et du handicap (MDPH 47), insertion via le RSA et démographie médicale.</a:t>
            </a:r>
            <a:endParaRPr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129414884" name="Picture 8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648198" y="2919665"/>
            <a:ext cx="533398" cy="533398"/>
          </a:xfrm>
          <a:prstGeom prst="rect">
            <a:avLst/>
          </a:prstGeom>
        </p:spPr>
      </p:pic>
      <p:sp>
        <p:nvSpPr>
          <p:cNvPr id="1919421704" name="TextBox 9"/>
          <p:cNvSpPr txBox="1"/>
          <p:nvPr/>
        </p:nvSpPr>
        <p:spPr bwMode="auto">
          <a:xfrm>
            <a:off x="5416018" y="2820425"/>
            <a:ext cx="3042540" cy="731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b="1" i="0" u="none" strike="noStrike" cap="none" spc="0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Éducation </a:t>
            </a:r>
            <a:br>
              <a:rPr lang="fr-FR" sz="2400" b="1" i="0" u="none" strike="noStrike" cap="none" spc="0">
                <a:solidFill>
                  <a:srgbClr val="4389BD"/>
                </a:solidFill>
                <a:latin typeface="Calibri"/>
                <a:ea typeface="Calibri"/>
                <a:cs typeface="Calibri"/>
              </a:rPr>
            </a:br>
            <a:r>
              <a:rPr lang="fr-FR" sz="2400" b="1" i="0" u="none" strike="noStrike" cap="none" spc="0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&amp; Jeunesse</a:t>
            </a:r>
            <a:endParaRPr>
              <a:latin typeface="Calibri"/>
              <a:cs typeface="Calibri"/>
            </a:endParaRPr>
          </a:p>
        </p:txBody>
      </p:sp>
      <p:sp>
        <p:nvSpPr>
          <p:cNvPr id="615434163" name="TextBox 10"/>
          <p:cNvSpPr txBox="1"/>
          <p:nvPr/>
        </p:nvSpPr>
        <p:spPr bwMode="auto">
          <a:xfrm>
            <a:off x="4648198" y="3715896"/>
            <a:ext cx="2897758" cy="1180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lnSpc>
                <a:spcPts val="1857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Gestion et modernisation des collèges, développement des usages numériques éducatifs, tarification solidaire de la restauration scolaire à 2€ max.</a:t>
            </a:r>
            <a:endParaRPr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445040001" name="Picture 11" descr="imag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458200" y="2919665"/>
            <a:ext cx="533398" cy="533398"/>
          </a:xfrm>
          <a:prstGeom prst="rect">
            <a:avLst/>
          </a:prstGeom>
        </p:spPr>
      </p:pic>
      <p:sp>
        <p:nvSpPr>
          <p:cNvPr id="960862543" name="TextBox 12"/>
          <p:cNvSpPr txBox="1"/>
          <p:nvPr/>
        </p:nvSpPr>
        <p:spPr bwMode="auto">
          <a:xfrm>
            <a:off x="9215608" y="2820425"/>
            <a:ext cx="3043980" cy="731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b="1" i="0" u="none" strike="noStrike" cap="none" spc="0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Infrastructures </a:t>
            </a:r>
            <a:br>
              <a:rPr lang="fr-FR" sz="2400" b="1" i="0" u="none" strike="noStrike" cap="none" spc="0">
                <a:solidFill>
                  <a:srgbClr val="4389BD"/>
                </a:solidFill>
                <a:latin typeface="Calibri"/>
                <a:ea typeface="Calibri"/>
                <a:cs typeface="Calibri"/>
              </a:rPr>
            </a:br>
            <a:r>
              <a:rPr lang="fr-FR" sz="2400" b="1" i="0" u="none" strike="noStrike" cap="none" spc="0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&amp; Métiers</a:t>
            </a:r>
            <a:endParaRPr sz="2400" b="1" i="0" u="none" strike="noStrike" cap="none" spc="0">
              <a:solidFill>
                <a:srgbClr val="4389BD"/>
              </a:solidFill>
              <a:latin typeface="Calibri"/>
              <a:cs typeface="Calibri"/>
            </a:endParaRPr>
          </a:p>
        </p:txBody>
      </p:sp>
      <p:sp>
        <p:nvSpPr>
          <p:cNvPr id="943660537" name="TextBox 13"/>
          <p:cNvSpPr txBox="1"/>
          <p:nvPr/>
        </p:nvSpPr>
        <p:spPr bwMode="auto">
          <a:xfrm>
            <a:off x="8458198" y="3715896"/>
            <a:ext cx="3211723" cy="1180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lnSpc>
                <a:spcPts val="1857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Entretien et sécurisation du réseau routier, déploiement de la fibre optique (Très Haut Débit), transition écologique et préservation du patrimoine naturel.</a:t>
            </a:r>
            <a:endParaRPr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109591761" name="Picture 14" descr="image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966785" y="3062540"/>
            <a:ext cx="276223" cy="247648"/>
          </a:xfrm>
          <a:prstGeom prst="rect">
            <a:avLst/>
          </a:prstGeom>
        </p:spPr>
      </p:pic>
      <p:pic>
        <p:nvPicPr>
          <p:cNvPr id="1211337588" name="Picture 15" descr="image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4757735" y="3062540"/>
            <a:ext cx="314323" cy="247648"/>
          </a:xfrm>
          <a:prstGeom prst="rect">
            <a:avLst/>
          </a:prstGeom>
        </p:spPr>
      </p:pic>
      <p:pic>
        <p:nvPicPr>
          <p:cNvPr id="629006992" name="Picture 16" descr="image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8586785" y="3062540"/>
            <a:ext cx="276223" cy="247648"/>
          </a:xfrm>
          <a:prstGeom prst="rect">
            <a:avLst/>
          </a:prstGeom>
        </p:spPr>
      </p:pic>
      <p:sp>
        <p:nvSpPr>
          <p:cNvPr id="1540487839" name="ZoneTexte 1540487838"/>
          <p:cNvSpPr txBox="1"/>
          <p:nvPr/>
        </p:nvSpPr>
        <p:spPr bwMode="auto">
          <a:xfrm>
            <a:off x="3181025" y="1630596"/>
            <a:ext cx="8729505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200" b="1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Le Département est un acteur majeur de proximité</a:t>
            </a:r>
            <a:r>
              <a:rPr sz="22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il est garant des solidarités humaines et territoriales pour l'ensemble des Lot-et-Garonnais.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154814661" name="Picture 2" descr="image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3335194" y="5469336"/>
            <a:ext cx="2609319" cy="962104"/>
          </a:xfrm>
          <a:prstGeom prst="rect">
            <a:avLst/>
          </a:prstGeom>
        </p:spPr>
      </p:pic>
      <p:sp>
        <p:nvSpPr>
          <p:cNvPr id="242708832" name="TextBox 3"/>
          <p:cNvSpPr txBox="1"/>
          <p:nvPr/>
        </p:nvSpPr>
        <p:spPr bwMode="auto">
          <a:xfrm>
            <a:off x="2292704" y="5282124"/>
            <a:ext cx="4694300" cy="857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748"/>
              </a:lnSpc>
              <a:defRPr/>
            </a:pPr>
            <a:r>
              <a:rPr sz="36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531M€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73520993" name="TextBox 4"/>
          <p:cNvSpPr txBox="1"/>
          <p:nvPr/>
        </p:nvSpPr>
        <p:spPr bwMode="auto">
          <a:xfrm>
            <a:off x="2293604" y="6011452"/>
            <a:ext cx="4692500" cy="324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5"/>
              </a:lnSpc>
              <a:defRPr/>
            </a:pPr>
            <a:r>
              <a:rPr sz="1600" b="0" i="0" u="none" dirty="0">
                <a:solidFill>
                  <a:srgbClr val="F0F9FF"/>
                </a:solidFill>
                <a:latin typeface="Calibri"/>
                <a:ea typeface="Calibri"/>
                <a:cs typeface="Calibri"/>
              </a:rPr>
              <a:t>Budget </a:t>
            </a:r>
            <a:r>
              <a:rPr sz="1600" b="0" i="0" u="none" dirty="0" err="1">
                <a:solidFill>
                  <a:srgbClr val="F0F9FF"/>
                </a:solidFill>
                <a:latin typeface="Calibri"/>
                <a:ea typeface="Calibri"/>
                <a:cs typeface="Calibri"/>
              </a:rPr>
              <a:t>Primitif</a:t>
            </a:r>
            <a:r>
              <a:rPr sz="1600" b="0" i="0" u="none" dirty="0">
                <a:solidFill>
                  <a:srgbClr val="F0F9FF"/>
                </a:solidFill>
                <a:latin typeface="Calibri"/>
                <a:ea typeface="Calibri"/>
                <a:cs typeface="Calibri"/>
              </a:rPr>
              <a:t> Global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1673901991" name="Picture 2" descr="image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6286451" y="5469336"/>
            <a:ext cx="2414989" cy="962104"/>
          </a:xfrm>
          <a:prstGeom prst="rect">
            <a:avLst/>
          </a:prstGeom>
        </p:spPr>
      </p:pic>
      <p:sp>
        <p:nvSpPr>
          <p:cNvPr id="728794856" name="TextBox 3"/>
          <p:cNvSpPr txBox="1"/>
          <p:nvPr/>
        </p:nvSpPr>
        <p:spPr bwMode="auto">
          <a:xfrm>
            <a:off x="5145896" y="5282124"/>
            <a:ext cx="4696099" cy="857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748"/>
              </a:lnSpc>
              <a:defRPr/>
            </a:pPr>
            <a:r>
              <a:rPr sz="3600" b="1" i="0" u="none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1300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119548901" name="TextBox 4"/>
          <p:cNvSpPr txBox="1"/>
          <p:nvPr/>
        </p:nvSpPr>
        <p:spPr bwMode="auto">
          <a:xfrm>
            <a:off x="5143375" y="6011452"/>
            <a:ext cx="4701140" cy="324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5"/>
              </a:lnSpc>
              <a:defRPr/>
            </a:pPr>
            <a:r>
              <a:rPr sz="1600" b="0" i="0" u="none" dirty="0">
                <a:solidFill>
                  <a:srgbClr val="F0F9FF"/>
                </a:solidFill>
                <a:latin typeface="Calibri"/>
                <a:ea typeface="Calibri"/>
                <a:cs typeface="Calibri"/>
              </a:rPr>
              <a:t>Agents </a:t>
            </a:r>
            <a:r>
              <a:rPr sz="1600" b="0" i="0" u="none" dirty="0" err="1">
                <a:solidFill>
                  <a:srgbClr val="F0F9FF"/>
                </a:solidFill>
                <a:latin typeface="Calibri"/>
                <a:ea typeface="Calibri"/>
                <a:cs typeface="Calibri"/>
              </a:rPr>
              <a:t>territoriaux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1693677056" name="Image 1693677055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219532" y="1784111"/>
            <a:ext cx="2778147" cy="522542"/>
          </a:xfrm>
          <a:prstGeom prst="rect">
            <a:avLst/>
          </a:prstGeom>
        </p:spPr>
      </p:pic>
      <p:pic>
        <p:nvPicPr>
          <p:cNvPr id="1551354638" name="Image 1551354637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10604908" y="6176962"/>
            <a:ext cx="1319726" cy="485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412461" name="Titre 1"/>
          <p:cNvSpPr>
            <a:spLocks noGrp="1"/>
          </p:cNvSpPr>
          <p:nvPr>
            <p:ph type="title"/>
          </p:nvPr>
        </p:nvSpPr>
        <p:spPr bwMode="auto">
          <a:xfrm>
            <a:off x="1153914" y="-22951"/>
            <a:ext cx="10199884" cy="1365631"/>
          </a:xfrm>
        </p:spPr>
        <p:txBody>
          <a:bodyPr/>
          <a:lstStyle/>
          <a:p>
            <a:pPr>
              <a:defRPr/>
            </a:pPr>
            <a:r>
              <a:rPr lang="fr-FR" sz="4000" b="1" i="0" u="none" strike="noStrike" cap="none" spc="0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Le Département et le numérique</a:t>
            </a:r>
            <a:endParaRPr/>
          </a:p>
        </p:txBody>
      </p:sp>
      <p:sp>
        <p:nvSpPr>
          <p:cNvPr id="1443144586" name="Rectangle à coins arrondis 6"/>
          <p:cNvSpPr/>
          <p:nvPr/>
        </p:nvSpPr>
        <p:spPr bwMode="auto">
          <a:xfrm>
            <a:off x="-98169" y="521929"/>
            <a:ext cx="1123407" cy="300444"/>
          </a:xfrm>
          <a:prstGeom prst="roundRect">
            <a:avLst>
              <a:gd name="adj" fmla="val 16667"/>
            </a:avLst>
          </a:prstGeom>
          <a:solidFill>
            <a:srgbClr val="B6C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FF7C80"/>
              </a:solidFill>
            </a:endParaRPr>
          </a:p>
        </p:txBody>
      </p:sp>
      <p:cxnSp>
        <p:nvCxnSpPr>
          <p:cNvPr id="1270331135" name="Connecteur droit 1270331134"/>
          <p:cNvCxnSpPr/>
          <p:nvPr/>
        </p:nvCxnSpPr>
        <p:spPr bwMode="auto">
          <a:xfrm flipV="1">
            <a:off x="-98169" y="1342679"/>
            <a:ext cx="12435940" cy="0"/>
          </a:xfrm>
          <a:prstGeom prst="line">
            <a:avLst/>
          </a:prstGeom>
          <a:ln w="57150" cap="flat" cmpd="sng" algn="ctr">
            <a:solidFill>
              <a:srgbClr val="4389BD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0587459" name="ZoneTexte 1440587458"/>
          <p:cNvSpPr txBox="1"/>
          <p:nvPr/>
        </p:nvSpPr>
        <p:spPr bwMode="auto">
          <a:xfrm>
            <a:off x="351227" y="1589888"/>
            <a:ext cx="11216603" cy="435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2000" b="0" i="0" u="none" strike="noStrike" cap="none" spc="0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Dans un monde toujours plus connecté, </a:t>
            </a:r>
            <a:r>
              <a:rPr lang="fr-FR" sz="2000" b="1" i="0" u="none" strike="noStrike" cap="none" spc="0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l’accès au numérique est devenu essentiel.</a:t>
            </a:r>
            <a:r>
              <a:rPr lang="fr-FR" sz="2000" b="0" i="0" u="none" strike="noStrike" cap="none" spc="0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Le Lot-et-Garonne ne veut laisser personne de côté et agit pour que chacun puisse profiter pleinement de cette transformation.</a:t>
            </a:r>
            <a:endParaRPr sz="2000" dirty="0">
              <a:latin typeface="Calibri"/>
              <a:cs typeface="Calibri"/>
            </a:endParaRPr>
          </a:p>
          <a:p>
            <a:pPr>
              <a:defRPr/>
            </a:pPr>
            <a:endParaRPr sz="2000" dirty="0">
              <a:latin typeface="Calibri"/>
              <a:cs typeface="Calibri"/>
            </a:endParaRPr>
          </a:p>
          <a:p>
            <a:pPr>
              <a:defRPr/>
            </a:pPr>
            <a:r>
              <a:rPr sz="2000" b="1" dirty="0">
                <a:solidFill>
                  <a:srgbClr val="B6C932"/>
                </a:solidFill>
                <a:latin typeface="Calibri"/>
                <a:ea typeface="Calibri"/>
                <a:cs typeface="Calibri"/>
              </a:rPr>
              <a:t>MISSIONS COTÉ INFRASTRUCTURES :</a:t>
            </a:r>
            <a:endParaRPr sz="2000" dirty="0">
              <a:latin typeface="Calibri"/>
              <a:cs typeface="Calibri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Le </a:t>
            </a: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déploiement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de la </a:t>
            </a: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fibre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optique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pour assurer </a:t>
            </a: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l’accès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au Très Haut </a:t>
            </a: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Débit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,</a:t>
            </a:r>
            <a:endParaRPr sz="2000" dirty="0">
              <a:latin typeface="Calibri"/>
              <a:cs typeface="Calibri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L’amélioration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des réseaux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internet </a:t>
            </a: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existants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,</a:t>
            </a:r>
            <a:endParaRPr sz="2000" dirty="0">
              <a:latin typeface="Calibri"/>
              <a:cs typeface="Calibri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L’extension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de la couverture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i="0" dirty="0" err="1">
                <a:latin typeface="Calibri"/>
                <a:ea typeface="Calibri"/>
                <a:cs typeface="Calibri"/>
              </a:rPr>
              <a:t>téléphonie</a:t>
            </a:r>
            <a:r>
              <a:rPr sz="2000" b="0" i="0" dirty="0">
                <a:latin typeface="Calibri"/>
                <a:ea typeface="Calibri"/>
                <a:cs typeface="Calibri"/>
              </a:rPr>
              <a:t> mobile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83878" indent="-283878">
              <a:buFont typeface="Arial"/>
              <a:buChar char="–"/>
              <a:defRPr/>
            </a:pPr>
            <a:endParaRPr sz="2000" dirty="0">
              <a:latin typeface="Calibri"/>
              <a:cs typeface="Calibri"/>
            </a:endParaRPr>
          </a:p>
          <a:p>
            <a:pPr>
              <a:defRPr/>
            </a:pPr>
            <a:r>
              <a:rPr sz="2000" b="1" dirty="0">
                <a:solidFill>
                  <a:srgbClr val="B6C932"/>
                </a:solidFill>
                <a:latin typeface="Calibri"/>
                <a:ea typeface="Calibri"/>
                <a:cs typeface="Calibri"/>
              </a:rPr>
              <a:t>MISSIONS COTÉ USAGES ET INCLUSION :</a:t>
            </a:r>
            <a:endParaRPr sz="2000" dirty="0">
              <a:latin typeface="Calibri"/>
              <a:cs typeface="Calibri"/>
            </a:endParaRPr>
          </a:p>
          <a:p>
            <a:pPr>
              <a:defRPr/>
            </a:pP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Depuis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2019, le Département </a:t>
            </a: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déploie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une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stratégie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d’inclusion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numérique</a:t>
            </a:r>
            <a:r>
              <a:rPr sz="2000" dirty="0">
                <a:latin typeface="Calibri"/>
                <a:ea typeface="Calibri"/>
                <a:cs typeface="Calibri"/>
              </a:rPr>
              <a:t> et se </a:t>
            </a:r>
            <a:r>
              <a:rPr sz="2000" dirty="0" err="1">
                <a:latin typeface="Calibri"/>
                <a:ea typeface="Calibri"/>
                <a:cs typeface="Calibri"/>
              </a:rPr>
              <a:t>donne</a:t>
            </a:r>
            <a:r>
              <a:rPr sz="2000" dirty="0">
                <a:latin typeface="Calibri"/>
                <a:ea typeface="Calibri"/>
                <a:cs typeface="Calibri"/>
              </a:rPr>
              <a:t> pour missions :</a:t>
            </a:r>
            <a:endParaRPr sz="2000" dirty="0">
              <a:latin typeface="Calibri"/>
              <a:cs typeface="Calibri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Donner à </a:t>
            </a: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tous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les Lot-et-</a:t>
            </a: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Garonnais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les </a:t>
            </a: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compétences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numériques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de base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et </a:t>
            </a:r>
            <a:b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</a:b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les </a:t>
            </a: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sensibiliser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aux bons usages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sur internet,</a:t>
            </a:r>
            <a:endParaRPr sz="2000" dirty="0">
              <a:latin typeface="Calibri"/>
              <a:cs typeface="Calibri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Favoriser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l’accès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aux 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services publics </a:t>
            </a: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ligne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, à la formation, à </a:t>
            </a: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l’emploi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et aux droits </a:t>
            </a: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essentiels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,</a:t>
            </a:r>
            <a:endParaRPr sz="2000" dirty="0">
              <a:latin typeface="Calibri"/>
              <a:cs typeface="Calibri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Encourager </a:t>
            </a: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l’usage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du numérique pour </a:t>
            </a:r>
            <a:r>
              <a:rPr sz="2000" b="1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garder</a:t>
            </a:r>
            <a:r>
              <a:rPr sz="2000" b="1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le lien social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et </a:t>
            </a: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renforcer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i="0" u="none" dirty="0" err="1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l’autonomie</a:t>
            </a:r>
            <a:r>
              <a:rPr sz="2000" b="0" i="0" u="none" dirty="0">
                <a:solidFill>
                  <a:srgbClr val="122939"/>
                </a:solidFill>
                <a:latin typeface="Calibri"/>
                <a:ea typeface="Calibri"/>
                <a:cs typeface="Calibri"/>
              </a:rPr>
              <a:t>.</a:t>
            </a:r>
            <a:endParaRPr dirty="0"/>
          </a:p>
        </p:txBody>
      </p:sp>
      <p:pic>
        <p:nvPicPr>
          <p:cNvPr id="1496995283" name="Image 149699528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61240" y="4848434"/>
            <a:ext cx="866773" cy="914400"/>
          </a:xfrm>
          <a:prstGeom prst="rect">
            <a:avLst/>
          </a:prstGeom>
        </p:spPr>
      </p:pic>
      <p:pic>
        <p:nvPicPr>
          <p:cNvPr id="1109885882" name="Image 110988588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604908" y="6176962"/>
            <a:ext cx="1319726" cy="485876"/>
          </a:xfrm>
          <a:prstGeom prst="rect">
            <a:avLst/>
          </a:prstGeom>
        </p:spPr>
      </p:pic>
      <p:pic>
        <p:nvPicPr>
          <p:cNvPr id="999273347" name="Image 99927334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539245" y="6286995"/>
            <a:ext cx="1757734" cy="3306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392218" name="Titre 1"/>
          <p:cNvSpPr>
            <a:spLocks noGrp="1"/>
          </p:cNvSpPr>
          <p:nvPr>
            <p:ph type="title"/>
          </p:nvPr>
        </p:nvSpPr>
        <p:spPr bwMode="auto">
          <a:xfrm>
            <a:off x="1153914" y="-22951"/>
            <a:ext cx="11011717" cy="1365631"/>
          </a:xfrm>
        </p:spPr>
        <p:txBody>
          <a:bodyPr/>
          <a:lstStyle/>
          <a:p>
            <a:pPr>
              <a:defRPr/>
            </a:pPr>
            <a:r>
              <a:rPr lang="fr-FR" sz="3800" b="1" i="0" u="none" strike="noStrike" cap="none" spc="0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Une équipe de conseillers numériques à votre service </a:t>
            </a:r>
            <a:endParaRPr/>
          </a:p>
        </p:txBody>
      </p:sp>
      <p:sp>
        <p:nvSpPr>
          <p:cNvPr id="1548431241" name="Rectangle à coins arrondis 6"/>
          <p:cNvSpPr/>
          <p:nvPr/>
        </p:nvSpPr>
        <p:spPr bwMode="auto">
          <a:xfrm>
            <a:off x="-98169" y="521929"/>
            <a:ext cx="1123407" cy="300444"/>
          </a:xfrm>
          <a:prstGeom prst="roundRect">
            <a:avLst>
              <a:gd name="adj" fmla="val 16667"/>
            </a:avLst>
          </a:prstGeom>
          <a:solidFill>
            <a:srgbClr val="B6C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FF7C80"/>
              </a:solidFill>
            </a:endParaRPr>
          </a:p>
        </p:txBody>
      </p:sp>
      <p:cxnSp>
        <p:nvCxnSpPr>
          <p:cNvPr id="941103724" name="Connecteur droit 941103723"/>
          <p:cNvCxnSpPr/>
          <p:nvPr/>
        </p:nvCxnSpPr>
        <p:spPr bwMode="auto">
          <a:xfrm flipV="1">
            <a:off x="-98169" y="1342679"/>
            <a:ext cx="12435940" cy="0"/>
          </a:xfrm>
          <a:prstGeom prst="line">
            <a:avLst/>
          </a:prstGeom>
          <a:ln w="57150" cap="flat" cmpd="sng" algn="ctr">
            <a:solidFill>
              <a:srgbClr val="4389BD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8044761" name="Image 108804476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04908" y="6176962"/>
            <a:ext cx="1319726" cy="485876"/>
          </a:xfrm>
          <a:prstGeom prst="rect">
            <a:avLst/>
          </a:prstGeom>
        </p:spPr>
      </p:pic>
      <p:pic>
        <p:nvPicPr>
          <p:cNvPr id="1472549024" name="Image 147254902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539245" y="6286995"/>
            <a:ext cx="1757734" cy="330612"/>
          </a:xfrm>
          <a:prstGeom prst="rect">
            <a:avLst/>
          </a:prstGeom>
        </p:spPr>
      </p:pic>
      <p:sp>
        <p:nvSpPr>
          <p:cNvPr id="1120903754" name="ZoneTexte 13"/>
          <p:cNvSpPr txBox="1"/>
          <p:nvPr/>
        </p:nvSpPr>
        <p:spPr bwMode="auto">
          <a:xfrm>
            <a:off x="3885506" y="1768626"/>
            <a:ext cx="7913616" cy="490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rgbClr val="FF7C80"/>
              </a:buClr>
              <a:defRPr/>
            </a:pPr>
            <a:r>
              <a:rPr lang="fr-FR" sz="2400" b="1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L’équipe départementale des conseillers numériques </a:t>
            </a:r>
            <a:br>
              <a:rPr lang="fr-FR" sz="2400">
                <a:latin typeface="Calibri"/>
                <a:ea typeface="Calibri"/>
                <a:cs typeface="Calibri"/>
              </a:rPr>
            </a:br>
            <a:r>
              <a:rPr lang="fr-FR" sz="2400">
                <a:latin typeface="Calibri"/>
                <a:ea typeface="Calibri"/>
                <a:cs typeface="Calibri"/>
              </a:rPr>
              <a:t>mène plusieurs actions d’inclusion numérique depuis 2022 :</a:t>
            </a:r>
            <a:endParaRPr sz="2200">
              <a:latin typeface="Calibri"/>
              <a:cs typeface="Calibri"/>
            </a:endParaRPr>
          </a:p>
          <a:p>
            <a:pPr lvl="0" algn="ctr">
              <a:buClr>
                <a:srgbClr val="FF7C80"/>
              </a:buClr>
              <a:defRPr/>
            </a:pPr>
            <a:endParaRPr sz="2200">
              <a:latin typeface="Calibri"/>
              <a:cs typeface="Calibri"/>
            </a:endParaRPr>
          </a:p>
          <a:p>
            <a:pPr marL="285750" lvl="0" indent="-285750" algn="ctr">
              <a:buClr>
                <a:srgbClr val="FF7C80"/>
              </a:buClr>
              <a:buFontTx/>
              <a:buChar char="-"/>
              <a:defRPr/>
            </a:pPr>
            <a:r>
              <a:rPr lang="fr-FR" sz="2400" b="1">
                <a:solidFill>
                  <a:srgbClr val="B6C932"/>
                </a:solidFill>
                <a:latin typeface="Calibri"/>
                <a:ea typeface="Calibri"/>
                <a:cs typeface="Calibri"/>
              </a:rPr>
              <a:t>Accompagnement individuel sur rendez-vous</a:t>
            </a:r>
            <a:r>
              <a:rPr lang="fr-FR" sz="2200">
                <a:solidFill>
                  <a:srgbClr val="B6C93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2200">
                <a:latin typeface="Calibri"/>
                <a:ea typeface="Calibri"/>
                <a:cs typeface="Calibri"/>
              </a:rPr>
              <a:t>:</a:t>
            </a:r>
            <a:br>
              <a:rPr lang="fr-FR" sz="2200">
                <a:latin typeface="Calibri"/>
                <a:ea typeface="Calibri"/>
                <a:cs typeface="Calibri"/>
              </a:rPr>
            </a:br>
            <a:r>
              <a:rPr lang="fr-FR" sz="2200">
                <a:latin typeface="Calibri"/>
                <a:ea typeface="Calibri"/>
                <a:cs typeface="Calibri"/>
              </a:rPr>
              <a:t> une permanence hebdomadaire est assurée dans les 8 Centres Médico-sociaux (CMS) du Lot-et-Garonne. Vous pouvez en bénéficier que vous soyez suivi par le CMS ou non.</a:t>
            </a:r>
          </a:p>
          <a:p>
            <a:pPr marL="285750" lvl="0" indent="-285750" algn="ctr">
              <a:buClr>
                <a:srgbClr val="FF7C80"/>
              </a:buClr>
              <a:buFontTx/>
              <a:buChar char="-"/>
              <a:defRPr/>
            </a:pPr>
            <a:endParaRPr sz="2200">
              <a:latin typeface="Calibri"/>
              <a:cs typeface="Calibri"/>
            </a:endParaRPr>
          </a:p>
          <a:p>
            <a:pPr marL="457200" lvl="0" indent="-457200" algn="ctr">
              <a:buClr>
                <a:srgbClr val="FF7C80"/>
              </a:buClr>
              <a:buFontTx/>
              <a:buChar char="-"/>
              <a:defRPr/>
            </a:pPr>
            <a:r>
              <a:rPr lang="fr-FR" sz="2400" b="1">
                <a:solidFill>
                  <a:srgbClr val="B6C932"/>
                </a:solidFill>
                <a:latin typeface="Calibri"/>
                <a:ea typeface="Calibri"/>
                <a:cs typeface="Calibri"/>
              </a:rPr>
              <a:t>Animation d’ateliers collectifs thématiques</a:t>
            </a:r>
            <a:r>
              <a:rPr lang="fr-FR" sz="2200">
                <a:solidFill>
                  <a:srgbClr val="B6C932"/>
                </a:solidFill>
                <a:latin typeface="Calibri"/>
                <a:ea typeface="Calibri"/>
                <a:cs typeface="Calibri"/>
              </a:rPr>
              <a:t> </a:t>
            </a:r>
            <a:br>
              <a:rPr lang="fr-FR" sz="2200">
                <a:latin typeface="Calibri"/>
                <a:ea typeface="Calibri"/>
                <a:cs typeface="Calibri"/>
              </a:rPr>
            </a:br>
            <a:r>
              <a:rPr lang="fr-FR" sz="2200">
                <a:latin typeface="Calibri"/>
                <a:ea typeface="Calibri"/>
                <a:cs typeface="Calibri"/>
              </a:rPr>
              <a:t>sur tout le département au sein de structures publiques </a:t>
            </a:r>
            <a:br>
              <a:rPr lang="fr-FR" sz="2200">
                <a:latin typeface="Calibri"/>
                <a:ea typeface="Calibri"/>
                <a:cs typeface="Calibri"/>
              </a:rPr>
            </a:br>
            <a:r>
              <a:rPr lang="fr-FR" sz="2200">
                <a:latin typeface="Calibri"/>
                <a:ea typeface="Calibri"/>
                <a:cs typeface="Calibri"/>
              </a:rPr>
              <a:t>(mairies, bibliothèques…) ou d’associations.</a:t>
            </a:r>
            <a:br>
              <a:rPr lang="fr-FR" sz="2000">
                <a:solidFill>
                  <a:srgbClr val="2F5597"/>
                </a:solidFill>
                <a:latin typeface="Montserrat SemiBold"/>
              </a:rPr>
            </a:br>
            <a:endParaRPr lang="fr-FR">
              <a:solidFill>
                <a:srgbClr val="2F5597"/>
              </a:solidFill>
              <a:latin typeface="Montserrat SemiBold"/>
            </a:endParaRPr>
          </a:p>
          <a:p>
            <a:pPr lvl="0" algn="ctr">
              <a:buClr>
                <a:srgbClr val="FF7C80"/>
              </a:buClr>
              <a:defRPr/>
            </a:pPr>
            <a:endParaRPr lang="fr-FR" sz="2800">
              <a:solidFill>
                <a:srgbClr val="FF5050"/>
              </a:solidFill>
              <a:latin typeface="Montserrat ExtraBold"/>
            </a:endParaRPr>
          </a:p>
          <a:p>
            <a:pPr lvl="0" algn="ctr">
              <a:buClr>
                <a:srgbClr val="FF7C80"/>
              </a:buClr>
              <a:defRPr/>
            </a:pPr>
            <a:endParaRPr lang="fr-FR" sz="2000">
              <a:solidFill>
                <a:srgbClr val="FF5050"/>
              </a:solidFill>
              <a:latin typeface="Montserrat ExtraBold"/>
            </a:endParaRPr>
          </a:p>
        </p:txBody>
      </p:sp>
      <p:sp>
        <p:nvSpPr>
          <p:cNvPr id="548338420" name="Ellipse 548338419"/>
          <p:cNvSpPr/>
          <p:nvPr/>
        </p:nvSpPr>
        <p:spPr bwMode="auto">
          <a:xfrm>
            <a:off x="530518" y="2150001"/>
            <a:ext cx="1375832" cy="13493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514915" name="Ellipse 1852514914"/>
          <p:cNvSpPr/>
          <p:nvPr/>
        </p:nvSpPr>
        <p:spPr bwMode="auto">
          <a:xfrm>
            <a:off x="2137186" y="2150002"/>
            <a:ext cx="1375831" cy="13493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97341928" name="Ellipse 1497341927"/>
          <p:cNvSpPr/>
          <p:nvPr/>
        </p:nvSpPr>
        <p:spPr bwMode="auto">
          <a:xfrm>
            <a:off x="530518" y="3698343"/>
            <a:ext cx="1375831" cy="13493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0495325" name="Ellipse 470495324"/>
          <p:cNvSpPr/>
          <p:nvPr/>
        </p:nvSpPr>
        <p:spPr bwMode="auto">
          <a:xfrm>
            <a:off x="2137186" y="3698343"/>
            <a:ext cx="1375831" cy="13493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17043477" name="Image 91704347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667499" y="6046883"/>
            <a:ext cx="1470090" cy="6293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940553" name="Titre 1"/>
          <p:cNvSpPr>
            <a:spLocks noGrp="1"/>
          </p:cNvSpPr>
          <p:nvPr>
            <p:ph type="title"/>
          </p:nvPr>
        </p:nvSpPr>
        <p:spPr bwMode="auto">
          <a:xfrm>
            <a:off x="1085059" y="9371"/>
            <a:ext cx="10268740" cy="1325562"/>
          </a:xfrm>
        </p:spPr>
        <p:txBody>
          <a:bodyPr/>
          <a:lstStyle/>
          <a:p>
            <a:pPr>
              <a:defRPr/>
            </a:pPr>
            <a:r>
              <a:rPr sz="4000" b="1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Sommaire</a:t>
            </a:r>
            <a:endParaRPr sz="4000" b="1">
              <a:solidFill>
                <a:srgbClr val="4389BD"/>
              </a:solidFill>
              <a:latin typeface="Calibri"/>
              <a:cs typeface="Calibri"/>
            </a:endParaRPr>
          </a:p>
        </p:txBody>
      </p:sp>
      <p:sp>
        <p:nvSpPr>
          <p:cNvPr id="88589502" name="Rectangle à coins arrondis 6"/>
          <p:cNvSpPr/>
          <p:nvPr/>
        </p:nvSpPr>
        <p:spPr bwMode="auto">
          <a:xfrm>
            <a:off x="-98169" y="521930"/>
            <a:ext cx="1123407" cy="300444"/>
          </a:xfrm>
          <a:prstGeom prst="roundRect">
            <a:avLst>
              <a:gd name="adj" fmla="val 16667"/>
            </a:avLst>
          </a:prstGeom>
          <a:solidFill>
            <a:srgbClr val="B6C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FF7C80"/>
              </a:solidFill>
            </a:endParaRPr>
          </a:p>
        </p:txBody>
      </p:sp>
      <p:cxnSp>
        <p:nvCxnSpPr>
          <p:cNvPr id="1304655530" name="Connecteur droit 1304655529"/>
          <p:cNvCxnSpPr/>
          <p:nvPr/>
        </p:nvCxnSpPr>
        <p:spPr bwMode="auto">
          <a:xfrm flipV="1">
            <a:off x="-98169" y="1342680"/>
            <a:ext cx="12435940" cy="0"/>
          </a:xfrm>
          <a:prstGeom prst="line">
            <a:avLst/>
          </a:prstGeom>
          <a:ln w="57150" cap="flat" cmpd="sng" algn="ctr">
            <a:solidFill>
              <a:srgbClr val="4389BD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7159036" name="Image 176715903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04909" y="6176962"/>
            <a:ext cx="1319727" cy="485876"/>
          </a:xfrm>
          <a:prstGeom prst="rect">
            <a:avLst/>
          </a:prstGeom>
        </p:spPr>
      </p:pic>
      <p:pic>
        <p:nvPicPr>
          <p:cNvPr id="1248014360" name="Image 124801435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539246" y="6286996"/>
            <a:ext cx="1757735" cy="330613"/>
          </a:xfrm>
          <a:prstGeom prst="rect">
            <a:avLst/>
          </a:prstGeom>
        </p:spPr>
      </p:pic>
      <p:sp>
        <p:nvSpPr>
          <p:cNvPr id="828162246" name="ZoneTexte 13"/>
          <p:cNvSpPr txBox="1"/>
          <p:nvPr/>
        </p:nvSpPr>
        <p:spPr bwMode="auto">
          <a:xfrm>
            <a:off x="464906" y="1706693"/>
            <a:ext cx="9797085" cy="3444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5907" marR="0" lvl="0" indent="-30590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B70"/>
              </a:buClr>
              <a:buAutoNum type="arabicPeriod"/>
              <a:defRPr/>
            </a:pPr>
            <a:r>
              <a:rPr lang="fr-FR" sz="2800" b="1" strike="noStrike" cap="none" spc="0">
                <a:solidFill>
                  <a:srgbClr val="4589BD"/>
                </a:solidFill>
                <a:latin typeface="Calibri"/>
                <a:ea typeface="Calibri"/>
                <a:cs typeface="Calibri"/>
              </a:rPr>
              <a:t> Introduction</a:t>
            </a:r>
            <a:endParaRPr sz="2600" b="1" strike="noStrike" cap="none" spc="0">
              <a:solidFill>
                <a:srgbClr val="4589BD"/>
              </a:solidFill>
              <a:latin typeface="Calibri"/>
              <a:cs typeface="Calibri"/>
            </a:endParaRPr>
          </a:p>
          <a:p>
            <a:pPr marL="305907" marR="0" lvl="0" indent="-30590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B70"/>
              </a:buClr>
              <a:buAutoNum type="arabicPeriod"/>
              <a:defRPr/>
            </a:pPr>
            <a:endParaRPr sz="1800" b="1" strike="noStrike" cap="none" spc="0">
              <a:solidFill>
                <a:srgbClr val="4589BD"/>
              </a:solidFill>
              <a:latin typeface="Calibri"/>
              <a:cs typeface="Calibri"/>
            </a:endParaRPr>
          </a:p>
          <a:p>
            <a:pPr marL="305907" marR="0" indent="-30590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B70"/>
              </a:buClr>
              <a:buAutoNum type="arabicPeriod"/>
              <a:defRPr/>
            </a:pPr>
            <a:r>
              <a:rPr lang="fr-FR" sz="2800" b="1" strike="noStrike" cap="none" spc="0">
                <a:solidFill>
                  <a:srgbClr val="4589BD"/>
                </a:solidFill>
                <a:latin typeface="Calibri"/>
                <a:ea typeface="Calibri"/>
                <a:cs typeface="Calibri"/>
              </a:rPr>
              <a:t> blalblabla</a:t>
            </a:r>
            <a:endParaRPr sz="2600" b="1" strike="noStrike" cap="none" spc="0">
              <a:solidFill>
                <a:srgbClr val="4589BD"/>
              </a:solidFill>
              <a:latin typeface="Calibri"/>
              <a:cs typeface="Calibri"/>
            </a:endParaRPr>
          </a:p>
          <a:p>
            <a:pPr marL="305907" marR="0" lvl="0" indent="-30590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B70"/>
              </a:buClr>
              <a:buAutoNum type="arabicPeriod"/>
              <a:defRPr/>
            </a:pPr>
            <a:endParaRPr sz="1800" b="1" strike="noStrike" cap="none" spc="0">
              <a:solidFill>
                <a:srgbClr val="4589BD"/>
              </a:solidFill>
              <a:latin typeface="Calibri"/>
              <a:cs typeface="Calibri"/>
            </a:endParaRPr>
          </a:p>
          <a:p>
            <a:pPr marL="305907" marR="0" indent="-30590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B70"/>
              </a:buClr>
              <a:buAutoNum type="arabicPeriod"/>
              <a:defRPr/>
            </a:pPr>
            <a:r>
              <a:rPr lang="fr-FR" sz="2800" b="1" i="0" u="none" strike="noStrike" cap="none" spc="0">
                <a:solidFill>
                  <a:srgbClr val="4589BD"/>
                </a:solidFill>
                <a:latin typeface="Calibri"/>
                <a:ea typeface="Calibri"/>
                <a:cs typeface="Calibri"/>
              </a:rPr>
              <a:t> blalblabla</a:t>
            </a:r>
            <a:endParaRPr sz="2800" b="1" strike="noStrike" cap="none" spc="0">
              <a:solidFill>
                <a:srgbClr val="4589BD"/>
              </a:solidFill>
              <a:latin typeface="Calibri"/>
              <a:cs typeface="Calibri"/>
            </a:endParaRPr>
          </a:p>
          <a:p>
            <a:pPr marL="283878" marR="0" indent="-283878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B70"/>
              </a:buClr>
              <a:buAutoNum type="arabicPeriod"/>
              <a:defRPr/>
            </a:pPr>
            <a:endParaRPr sz="1800" b="1" strike="noStrike" cap="none" spc="0">
              <a:solidFill>
                <a:srgbClr val="4589BD"/>
              </a:solidFill>
              <a:latin typeface="Calibri"/>
              <a:cs typeface="Calibri"/>
            </a:endParaRPr>
          </a:p>
          <a:p>
            <a:pPr marL="305907" marR="0" indent="-305907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B70"/>
              </a:buClr>
              <a:buAutoNum type="arabicPeriod"/>
              <a:defRPr/>
            </a:pPr>
            <a:r>
              <a:rPr lang="fr-FR" sz="2800" b="1" strike="noStrike" cap="none" spc="0">
                <a:solidFill>
                  <a:srgbClr val="4589B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2800" b="1" i="0" u="none" strike="noStrike" cap="none" spc="0">
                <a:solidFill>
                  <a:srgbClr val="4589BD"/>
                </a:solidFill>
                <a:latin typeface="Calibri"/>
                <a:ea typeface="Calibri"/>
                <a:cs typeface="Calibri"/>
              </a:rPr>
              <a:t>blalblabla</a:t>
            </a:r>
            <a:endParaRPr sz="2800" b="1" strike="noStrike" cap="none" spc="0">
              <a:solidFill>
                <a:srgbClr val="4589BD"/>
              </a:solidFill>
              <a:latin typeface="Calibri"/>
              <a:cs typeface="Calibri"/>
            </a:endParaRPr>
          </a:p>
          <a:p>
            <a:pPr marL="305906" marR="0" indent="-305906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B70"/>
              </a:buClr>
              <a:buAutoNum type="arabicPeriod"/>
              <a:defRPr/>
            </a:pPr>
            <a:endParaRPr sz="1800" b="1" strike="noStrike" cap="none" spc="0">
              <a:solidFill>
                <a:srgbClr val="4589BD"/>
              </a:solidFill>
              <a:latin typeface="Calibri"/>
              <a:cs typeface="Calibri"/>
            </a:endParaRPr>
          </a:p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rgbClr val="4589BD"/>
              </a:solidFill>
            </a:endParaRPr>
          </a:p>
          <a:p>
            <a:pPr>
              <a:defRPr/>
            </a:pPr>
            <a:endParaRPr>
              <a:solidFill>
                <a:srgbClr val="4589B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28374" name="Rectangle 3"/>
          <p:cNvSpPr/>
          <p:nvPr/>
        </p:nvSpPr>
        <p:spPr bwMode="auto">
          <a:xfrm>
            <a:off x="0" y="2400737"/>
            <a:ext cx="12429459" cy="1824601"/>
          </a:xfrm>
          <a:prstGeom prst="rect">
            <a:avLst/>
          </a:prstGeom>
          <a:solidFill>
            <a:srgbClr val="0B69B5"/>
          </a:solidFill>
          <a:ln w="76200">
            <a:solidFill>
              <a:srgbClr val="0B69B5"/>
            </a:solidFill>
          </a:ln>
          <a:effectLst>
            <a:outerShdw blurRad="165100" dist="50800" dir="5400000" sx="92000" sy="92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9396815" name="Rectangle à coins arrondis 5"/>
          <p:cNvSpPr/>
          <p:nvPr/>
        </p:nvSpPr>
        <p:spPr bwMode="auto">
          <a:xfrm>
            <a:off x="-234864" y="3245025"/>
            <a:ext cx="1123407" cy="300444"/>
          </a:xfrm>
          <a:prstGeom prst="roundRect">
            <a:avLst>
              <a:gd name="adj" fmla="val 16667"/>
            </a:avLst>
          </a:prstGeom>
          <a:solidFill>
            <a:srgbClr val="B6C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FF7C80"/>
              </a:solidFill>
            </a:endParaRPr>
          </a:p>
        </p:txBody>
      </p:sp>
      <p:sp>
        <p:nvSpPr>
          <p:cNvPr id="131682169" name="Titre 1"/>
          <p:cNvSpPr>
            <a:spLocks noGrp="1"/>
          </p:cNvSpPr>
          <p:nvPr>
            <p:ph type="title"/>
          </p:nvPr>
        </p:nvSpPr>
        <p:spPr bwMode="auto">
          <a:xfrm>
            <a:off x="1028748" y="2002631"/>
            <a:ext cx="10318701" cy="285273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>
              <a:defRPr/>
            </a:pPr>
            <a:r>
              <a:rPr sz="48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Titre de la partie</a:t>
            </a:r>
            <a:endParaRPr sz="4800" b="1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62697601" name="Image 6269760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203561" y="5974044"/>
            <a:ext cx="1617791" cy="595613"/>
          </a:xfrm>
          <a:prstGeom prst="rect">
            <a:avLst/>
          </a:prstGeom>
        </p:spPr>
      </p:pic>
      <p:pic>
        <p:nvPicPr>
          <p:cNvPr id="1521285515" name="Image 152128551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529366" y="6048265"/>
            <a:ext cx="2377434" cy="447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120351" name="Titre 1"/>
          <p:cNvSpPr>
            <a:spLocks noGrp="1"/>
          </p:cNvSpPr>
          <p:nvPr>
            <p:ph type="title"/>
          </p:nvPr>
        </p:nvSpPr>
        <p:spPr bwMode="auto">
          <a:xfrm>
            <a:off x="1085059" y="9371"/>
            <a:ext cx="10268740" cy="1325562"/>
          </a:xfrm>
        </p:spPr>
        <p:txBody>
          <a:bodyPr/>
          <a:lstStyle/>
          <a:p>
            <a:pPr>
              <a:defRPr/>
            </a:pPr>
            <a:r>
              <a:rPr sz="4000" b="1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Titre de la diapositive</a:t>
            </a:r>
            <a:endParaRPr sz="4000" b="1">
              <a:solidFill>
                <a:srgbClr val="4389BD"/>
              </a:solidFill>
              <a:latin typeface="Calibri"/>
              <a:cs typeface="Calibri"/>
            </a:endParaRPr>
          </a:p>
        </p:txBody>
      </p:sp>
      <p:sp>
        <p:nvSpPr>
          <p:cNvPr id="661988527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sz="220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60339042" name="Rectangle à coins arrondis 6"/>
          <p:cNvSpPr/>
          <p:nvPr/>
        </p:nvSpPr>
        <p:spPr bwMode="auto">
          <a:xfrm>
            <a:off x="-98169" y="521930"/>
            <a:ext cx="1123407" cy="300444"/>
          </a:xfrm>
          <a:prstGeom prst="roundRect">
            <a:avLst>
              <a:gd name="adj" fmla="val 16667"/>
            </a:avLst>
          </a:prstGeom>
          <a:solidFill>
            <a:srgbClr val="B6C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FF7C80"/>
              </a:solidFill>
            </a:endParaRPr>
          </a:p>
        </p:txBody>
      </p:sp>
      <p:cxnSp>
        <p:nvCxnSpPr>
          <p:cNvPr id="1779612539" name="Connecteur droit 1779612538"/>
          <p:cNvCxnSpPr/>
          <p:nvPr/>
        </p:nvCxnSpPr>
        <p:spPr bwMode="auto">
          <a:xfrm flipV="1">
            <a:off x="-98169" y="1342680"/>
            <a:ext cx="12435940" cy="0"/>
          </a:xfrm>
          <a:prstGeom prst="line">
            <a:avLst/>
          </a:prstGeom>
          <a:ln w="57150" cap="flat" cmpd="sng" algn="ctr">
            <a:solidFill>
              <a:srgbClr val="4389BD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5425968" name="Image 158542596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04909" y="6176962"/>
            <a:ext cx="1319727" cy="485876"/>
          </a:xfrm>
          <a:prstGeom prst="rect">
            <a:avLst/>
          </a:prstGeom>
        </p:spPr>
      </p:pic>
      <p:pic>
        <p:nvPicPr>
          <p:cNvPr id="1235698947" name="Image 123569894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539246" y="6286996"/>
            <a:ext cx="1757735" cy="3306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286916" name="Titre 1"/>
          <p:cNvSpPr>
            <a:spLocks noGrp="1"/>
          </p:cNvSpPr>
          <p:nvPr>
            <p:ph type="title"/>
          </p:nvPr>
        </p:nvSpPr>
        <p:spPr bwMode="auto">
          <a:xfrm>
            <a:off x="1153914" y="-22951"/>
            <a:ext cx="10199884" cy="1365631"/>
          </a:xfrm>
        </p:spPr>
        <p:txBody>
          <a:bodyPr/>
          <a:lstStyle/>
          <a:p>
            <a:pPr>
              <a:defRPr/>
            </a:pPr>
            <a:endParaRPr sz="4000" b="1">
              <a:solidFill>
                <a:srgbClr val="4389BD"/>
              </a:solidFill>
              <a:latin typeface="Calibri"/>
              <a:cs typeface="Calibri"/>
            </a:endParaRPr>
          </a:p>
        </p:txBody>
      </p:sp>
      <p:sp>
        <p:nvSpPr>
          <p:cNvPr id="991668634" name="Espace réservé du contenu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394023" marR="0" indent="-394023" algn="l" defTabSz="914400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SzPct val="90000"/>
              <a:buFont typeface="Arial"/>
              <a:buBlip>
                <a:blip r:embed="rId3"/>
              </a:buBlip>
              <a:defRPr/>
            </a:pPr>
            <a:endParaRPr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643049818" name="Espace réservé du contenu 3"/>
          <p:cNvSpPr>
            <a:spLocks noGrp="1"/>
          </p:cNvSpPr>
          <p:nvPr>
            <p:ph sz="half" idx="2"/>
          </p:nvPr>
        </p:nvSpPr>
        <p:spPr bwMode="auto"/>
        <p:txBody>
          <a:bodyPr/>
          <a:lstStyle/>
          <a:p>
            <a:pPr marL="394023" marR="0" indent="-394023" algn="l" defTabSz="914400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SzPct val="90000"/>
              <a:buFont typeface="Arial"/>
              <a:buBlip>
                <a:blip r:embed="rId3"/>
              </a:buBlip>
              <a:defRPr/>
            </a:pPr>
            <a:endParaRPr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388740635" name="Rectangle à coins arrondis 6"/>
          <p:cNvSpPr/>
          <p:nvPr/>
        </p:nvSpPr>
        <p:spPr bwMode="auto">
          <a:xfrm>
            <a:off x="-98169" y="521929"/>
            <a:ext cx="1123407" cy="300444"/>
          </a:xfrm>
          <a:prstGeom prst="roundRect">
            <a:avLst>
              <a:gd name="adj" fmla="val 16667"/>
            </a:avLst>
          </a:prstGeom>
          <a:solidFill>
            <a:srgbClr val="B6C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FF7C80"/>
              </a:solidFill>
            </a:endParaRPr>
          </a:p>
        </p:txBody>
      </p:sp>
      <p:cxnSp>
        <p:nvCxnSpPr>
          <p:cNvPr id="1717098688" name="Connecteur droit 1717098687"/>
          <p:cNvCxnSpPr/>
          <p:nvPr/>
        </p:nvCxnSpPr>
        <p:spPr bwMode="auto">
          <a:xfrm flipV="1">
            <a:off x="-98169" y="1342679"/>
            <a:ext cx="12435940" cy="0"/>
          </a:xfrm>
          <a:prstGeom prst="line">
            <a:avLst/>
          </a:prstGeom>
          <a:ln w="57150" cap="flat" cmpd="sng" algn="ctr">
            <a:solidFill>
              <a:srgbClr val="4389BD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9074246" name="Image 61907424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604908" y="6176962"/>
            <a:ext cx="1319726" cy="485876"/>
          </a:xfrm>
          <a:prstGeom prst="rect">
            <a:avLst/>
          </a:prstGeom>
        </p:spPr>
      </p:pic>
      <p:pic>
        <p:nvPicPr>
          <p:cNvPr id="1369933955" name="Image 1369933954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539245" y="6286995"/>
            <a:ext cx="1757734" cy="3306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488817" name="Titre 1"/>
          <p:cNvSpPr>
            <a:spLocks noGrp="1"/>
          </p:cNvSpPr>
          <p:nvPr>
            <p:ph type="title"/>
          </p:nvPr>
        </p:nvSpPr>
        <p:spPr bwMode="auto">
          <a:xfrm>
            <a:off x="1085059" y="9371"/>
            <a:ext cx="10268740" cy="1325562"/>
          </a:xfrm>
        </p:spPr>
        <p:txBody>
          <a:bodyPr/>
          <a:lstStyle/>
          <a:p>
            <a:pPr>
              <a:defRPr/>
            </a:pPr>
            <a:r>
              <a:rPr sz="4000" b="1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Pour aller plus loin...</a:t>
            </a:r>
            <a:endParaRPr sz="4000" b="1">
              <a:solidFill>
                <a:srgbClr val="4389BD"/>
              </a:solidFill>
              <a:latin typeface="Calibri"/>
              <a:cs typeface="Calibri"/>
            </a:endParaRPr>
          </a:p>
        </p:txBody>
      </p:sp>
      <p:sp>
        <p:nvSpPr>
          <p:cNvPr id="1518923302" name="Rectangle à coins arrondis 6"/>
          <p:cNvSpPr/>
          <p:nvPr/>
        </p:nvSpPr>
        <p:spPr bwMode="auto">
          <a:xfrm>
            <a:off x="-98169" y="521930"/>
            <a:ext cx="1123407" cy="300444"/>
          </a:xfrm>
          <a:prstGeom prst="roundRect">
            <a:avLst>
              <a:gd name="adj" fmla="val 16667"/>
            </a:avLst>
          </a:prstGeom>
          <a:solidFill>
            <a:srgbClr val="B6C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FF7C80"/>
              </a:solidFill>
            </a:endParaRPr>
          </a:p>
        </p:txBody>
      </p:sp>
      <p:cxnSp>
        <p:nvCxnSpPr>
          <p:cNvPr id="915889619" name="Connecteur droit 915889618"/>
          <p:cNvCxnSpPr/>
          <p:nvPr/>
        </p:nvCxnSpPr>
        <p:spPr bwMode="auto">
          <a:xfrm flipV="1">
            <a:off x="-98169" y="1342680"/>
            <a:ext cx="12435940" cy="0"/>
          </a:xfrm>
          <a:prstGeom prst="line">
            <a:avLst/>
          </a:prstGeom>
          <a:ln w="57150" cap="flat" cmpd="sng" algn="ctr">
            <a:solidFill>
              <a:srgbClr val="4389BD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6479485" name="Image 96647948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04909" y="6176962"/>
            <a:ext cx="1319727" cy="485876"/>
          </a:xfrm>
          <a:prstGeom prst="rect">
            <a:avLst/>
          </a:prstGeom>
        </p:spPr>
      </p:pic>
      <p:pic>
        <p:nvPicPr>
          <p:cNvPr id="1201210482" name="Image 120121048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539246" y="6286996"/>
            <a:ext cx="1757735" cy="330613"/>
          </a:xfrm>
          <a:prstGeom prst="rect">
            <a:avLst/>
          </a:prstGeom>
        </p:spPr>
      </p:pic>
      <p:sp>
        <p:nvSpPr>
          <p:cNvPr id="560478718" name="ZoneTexte 9"/>
          <p:cNvSpPr txBox="1"/>
          <p:nvPr/>
        </p:nvSpPr>
        <p:spPr bwMode="auto">
          <a:xfrm>
            <a:off x="871242" y="1602684"/>
            <a:ext cx="7427456" cy="5280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9965" marR="0" indent="-349965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Blip>
                <a:blip r:embed="rId5"/>
              </a:buBlip>
              <a:defRPr/>
            </a:pPr>
            <a:r>
              <a:rPr lang="fr-FR" sz="2400" b="1" i="0" u="none" strike="noStrike" cap="none" spc="0">
                <a:solidFill>
                  <a:srgbClr val="4589BD"/>
                </a:solidFill>
                <a:latin typeface="Calibri"/>
                <a:ea typeface="Calibri"/>
                <a:cs typeface="Calibri"/>
              </a:rPr>
              <a:t>Sur la thématique :</a:t>
            </a:r>
            <a:endParaRPr sz="2400" b="1" i="0" u="none">
              <a:solidFill>
                <a:srgbClr val="1F1F1F"/>
              </a:solidFill>
              <a:latin typeface="Calibri"/>
              <a:cs typeface="Calibri"/>
            </a:endParaRPr>
          </a:p>
          <a:p>
            <a:pPr>
              <a:defRPr/>
            </a:pPr>
            <a:endParaRPr sz="2400" b="1" i="0" u="none">
              <a:solidFill>
                <a:srgbClr val="1F1F1F"/>
              </a:solidFill>
              <a:latin typeface="Calibri"/>
              <a:cs typeface="Calibri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2000" b="1" i="0" u="none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Lien</a:t>
            </a:r>
            <a:endParaRPr sz="2000" b="1" i="0" u="none">
              <a:solidFill>
                <a:srgbClr val="1F1F1F"/>
              </a:solidFill>
              <a:latin typeface="Calibri"/>
              <a:cs typeface="Calibri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2000" b="1" i="0" u="none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Lien</a:t>
            </a:r>
            <a:endParaRPr sz="2000" b="1" i="0" u="none">
              <a:solidFill>
                <a:srgbClr val="1F1F1F"/>
              </a:solidFill>
              <a:latin typeface="Calibri"/>
              <a:cs typeface="Calibri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2000" b="1" i="0" u="none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Lien</a:t>
            </a:r>
            <a:endParaRPr sz="2000" b="1" i="0" u="none">
              <a:solidFill>
                <a:srgbClr val="1F1F1F"/>
              </a:solidFill>
              <a:latin typeface="Calibri"/>
              <a:cs typeface="Calibri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2000" b="1" i="0" u="none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Lien</a:t>
            </a:r>
            <a:endParaRPr sz="2000" b="1" i="0" u="none">
              <a:solidFill>
                <a:srgbClr val="1F1F1F"/>
              </a:solidFill>
              <a:latin typeface="Calibri"/>
              <a:cs typeface="Calibri"/>
            </a:endParaRPr>
          </a:p>
          <a:p>
            <a:pPr>
              <a:defRPr/>
            </a:pPr>
            <a:endParaRPr sz="2000" b="1" i="0" u="none">
              <a:solidFill>
                <a:srgbClr val="1F1F1F"/>
              </a:solidFill>
              <a:latin typeface="Calibri"/>
              <a:cs typeface="Calibri"/>
            </a:endParaRPr>
          </a:p>
          <a:p>
            <a:pPr marL="283878" indent="-283878">
              <a:buFont typeface="Arial"/>
              <a:buChar char="•"/>
              <a:defRPr/>
            </a:pPr>
            <a:endParaRPr sz="2000" b="0" i="0" u="none">
              <a:solidFill>
                <a:srgbClr val="1F1F1F"/>
              </a:solidFill>
              <a:latin typeface="Calibri"/>
              <a:cs typeface="Calibri"/>
            </a:endParaRPr>
          </a:p>
          <a:p>
            <a:pPr marL="349965" marR="0" indent="-349965" algn="l" defTabSz="914400" rtl="0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SzPct val="90000"/>
              <a:buBlip>
                <a:blip r:embed="rId5"/>
              </a:buBlip>
              <a:defRPr/>
            </a:pPr>
            <a:r>
              <a:rPr lang="fr-FR" sz="2400" b="1" i="0" u="none" strike="noStrike" cap="none" spc="0">
                <a:solidFill>
                  <a:srgbClr val="4589BD"/>
                </a:solidFill>
                <a:latin typeface="Calibri"/>
                <a:ea typeface="Calibri"/>
                <a:cs typeface="Calibri"/>
              </a:rPr>
              <a:t>Pour être accompagné dans vos usages numériques :</a:t>
            </a:r>
            <a:endParaRPr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marR="0" indent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Accompagnement individuel</a:t>
            </a:r>
            <a:endParaRPr sz="2000" b="0" i="0" u="none">
              <a:solidFill>
                <a:srgbClr val="1F1F1F"/>
              </a:solidFill>
              <a:latin typeface="Calibri"/>
              <a:cs typeface="Calibri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Ateliers et webinaires</a:t>
            </a:r>
            <a:endParaRPr sz="2000" b="0" i="0" u="none">
              <a:solidFill>
                <a:srgbClr val="1F1F1F"/>
              </a:solidFill>
              <a:latin typeface="Calibri"/>
              <a:cs typeface="Calibri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Pass numériques </a:t>
            </a:r>
            <a:endParaRPr sz="2000" b="0" i="0" u="none" strike="noStrike" cap="none" spc="0">
              <a:solidFill>
                <a:srgbClr val="1F1F1F"/>
              </a:solidFill>
              <a:latin typeface="Calibri"/>
              <a:cs typeface="Calibri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lang="fr-FR" sz="2000" b="0" i="0" u="none" strike="noStrike" cap="none" spc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Accompagnement à la certification PIX</a:t>
            </a:r>
            <a:endParaRPr sz="2000" b="0" i="0" u="none">
              <a:solidFill>
                <a:srgbClr val="1F1F1F"/>
              </a:solidFill>
              <a:latin typeface="Calibri"/>
              <a:cs typeface="Calibri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2000" b="0" i="0" u="none">
                <a:solidFill>
                  <a:srgbClr val="1F1F1F"/>
                </a:solidFill>
                <a:latin typeface="Calibri"/>
                <a:cs typeface="Calibri"/>
              </a:rPr>
              <a:t>Aide à l’équipement : Ordi-solidaire</a:t>
            </a:r>
          </a:p>
          <a:p>
            <a:pPr marL="0" marR="0" indent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2000"/>
          </a:p>
          <a:p>
            <a:pPr marL="283878" indent="-283878">
              <a:buFont typeface="Arial"/>
              <a:buChar char="•"/>
              <a:defRPr/>
            </a:pPr>
            <a:endParaRPr sz="2000" b="0" i="0" u="none">
              <a:solidFill>
                <a:srgbClr val="1F1F1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199990" name="Titre 1"/>
          <p:cNvSpPr>
            <a:spLocks noGrp="1"/>
          </p:cNvSpPr>
          <p:nvPr>
            <p:ph type="title"/>
          </p:nvPr>
        </p:nvSpPr>
        <p:spPr bwMode="auto">
          <a:xfrm>
            <a:off x="1085059" y="9371"/>
            <a:ext cx="10268740" cy="1325562"/>
          </a:xfrm>
        </p:spPr>
        <p:txBody>
          <a:bodyPr/>
          <a:lstStyle/>
          <a:p>
            <a:pPr>
              <a:defRPr/>
            </a:pPr>
            <a:r>
              <a:rPr sz="4000" b="1">
                <a:solidFill>
                  <a:srgbClr val="4389BD"/>
                </a:solidFill>
                <a:latin typeface="Calibri"/>
                <a:cs typeface="Calibri"/>
              </a:rPr>
              <a:t>Fin de la séance</a:t>
            </a:r>
          </a:p>
        </p:txBody>
      </p:sp>
      <p:sp>
        <p:nvSpPr>
          <p:cNvPr id="1699899163" name="Rectangle à coins arrondis 6"/>
          <p:cNvSpPr/>
          <p:nvPr/>
        </p:nvSpPr>
        <p:spPr bwMode="auto">
          <a:xfrm>
            <a:off x="-98169" y="521930"/>
            <a:ext cx="1123407" cy="300444"/>
          </a:xfrm>
          <a:prstGeom prst="roundRect">
            <a:avLst>
              <a:gd name="adj" fmla="val 16667"/>
            </a:avLst>
          </a:prstGeom>
          <a:solidFill>
            <a:srgbClr val="B6C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FF7C80"/>
              </a:solidFill>
            </a:endParaRPr>
          </a:p>
        </p:txBody>
      </p:sp>
      <p:cxnSp>
        <p:nvCxnSpPr>
          <p:cNvPr id="18811558" name="Connecteur droit 18811557"/>
          <p:cNvCxnSpPr/>
          <p:nvPr/>
        </p:nvCxnSpPr>
        <p:spPr bwMode="auto">
          <a:xfrm flipV="1">
            <a:off x="-98169" y="1342680"/>
            <a:ext cx="12435940" cy="0"/>
          </a:xfrm>
          <a:prstGeom prst="line">
            <a:avLst/>
          </a:prstGeom>
          <a:ln w="57150" cap="flat" cmpd="sng" algn="ctr">
            <a:solidFill>
              <a:srgbClr val="4389BD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6489837" name="Image 49648983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79124" y="5959226"/>
            <a:ext cx="748111" cy="677975"/>
          </a:xfrm>
          <a:prstGeom prst="rect">
            <a:avLst/>
          </a:prstGeom>
        </p:spPr>
      </p:pic>
      <p:pic>
        <p:nvPicPr>
          <p:cNvPr id="722371219" name="Image 72237121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72137" y="6006448"/>
            <a:ext cx="2166900" cy="681850"/>
          </a:xfrm>
          <a:prstGeom prst="rect">
            <a:avLst/>
          </a:prstGeom>
        </p:spPr>
      </p:pic>
      <p:pic>
        <p:nvPicPr>
          <p:cNvPr id="975377919" name="Image 975377918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562198" y="6160048"/>
            <a:ext cx="1780687" cy="334930"/>
          </a:xfrm>
          <a:prstGeom prst="rect">
            <a:avLst/>
          </a:prstGeom>
        </p:spPr>
      </p:pic>
      <p:pic>
        <p:nvPicPr>
          <p:cNvPr id="277238591" name="Image 277238590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609635" y="6097865"/>
            <a:ext cx="1211718" cy="446112"/>
          </a:xfrm>
          <a:prstGeom prst="rect">
            <a:avLst/>
          </a:prstGeom>
        </p:spPr>
      </p:pic>
      <p:sp>
        <p:nvSpPr>
          <p:cNvPr id="855910244" name="ZoneTexte 16"/>
          <p:cNvSpPr txBox="1"/>
          <p:nvPr/>
        </p:nvSpPr>
        <p:spPr bwMode="auto">
          <a:xfrm>
            <a:off x="1697566" y="1628462"/>
            <a:ext cx="8869724" cy="4450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fr-FR" sz="3600" b="1" dirty="0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Votre avis compte, </a:t>
            </a:r>
            <a:br>
              <a:rPr lang="fr-FR" sz="3600" b="1" dirty="0">
                <a:solidFill>
                  <a:srgbClr val="4389BD"/>
                </a:solidFill>
                <a:latin typeface="Calibri"/>
                <a:ea typeface="Calibri"/>
                <a:cs typeface="Calibri"/>
              </a:rPr>
            </a:br>
            <a:r>
              <a:rPr lang="fr-FR" sz="3600" b="1" dirty="0">
                <a:solidFill>
                  <a:srgbClr val="4389BD"/>
                </a:solidFill>
                <a:latin typeface="Calibri"/>
                <a:ea typeface="Calibri"/>
                <a:cs typeface="Calibri"/>
              </a:rPr>
              <a:t>laissez nous votre avis :</a:t>
            </a:r>
            <a:br>
              <a:rPr lang="fr-FR" sz="4800" b="1" dirty="0">
                <a:solidFill>
                  <a:srgbClr val="4389BD"/>
                </a:solidFill>
                <a:latin typeface="Calibri"/>
                <a:ea typeface="Calibri"/>
                <a:cs typeface="Calibri"/>
              </a:rPr>
            </a:br>
            <a:endParaRPr sz="4000" b="1" dirty="0">
              <a:latin typeface="Calibri"/>
              <a:cs typeface="Calibri"/>
            </a:endParaRPr>
          </a:p>
          <a:p>
            <a:pPr algn="ctr">
              <a:defRPr/>
            </a:pPr>
            <a:r>
              <a:rPr sz="2800" b="0" i="0" u="none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Merci pour </a:t>
            </a:r>
            <a:r>
              <a:rPr sz="2800" b="0" i="0" u="none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votre</a:t>
            </a:r>
            <a:r>
              <a:rPr sz="2800" b="0" i="0" u="none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attention et </a:t>
            </a:r>
            <a:br>
              <a:rPr sz="2800" b="0" i="0" u="none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sz="2800" b="0" i="0" u="none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votre</a:t>
            </a:r>
            <a:r>
              <a:rPr sz="2800" b="0" i="0" u="none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participation !</a:t>
            </a:r>
            <a:endParaRPr sz="4800" b="1" dirty="0">
              <a:latin typeface="Calibri"/>
              <a:cs typeface="Calibri"/>
            </a:endParaRPr>
          </a:p>
          <a:p>
            <a:pPr algn="ctr">
              <a:defRPr/>
            </a:pPr>
            <a:endParaRPr sz="4800" b="1" dirty="0">
              <a:solidFill>
                <a:schemeClr val="tx1"/>
              </a:solidFill>
              <a:latin typeface="Calibri"/>
              <a:cs typeface="Calibri"/>
            </a:endParaRPr>
          </a:p>
          <a:p>
            <a:pPr algn="ctr">
              <a:defRPr/>
            </a:pPr>
            <a:r>
              <a:rPr sz="2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contact : </a:t>
            </a:r>
            <a:r>
              <a:rPr sz="2400" b="1" i="0" u="none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i="0" u="sng" dirty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7"/>
              </a:rPr>
              <a:t>conseiller-numerique@lotetgaronne.fr</a:t>
            </a:r>
            <a:r>
              <a:rPr lang="fr-F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- 05 53 47 31 32</a:t>
            </a:r>
            <a:br>
              <a:rPr lang="fr-F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lang="fr-FR" sz="2400" b="1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2400" b="1" i="0" u="sng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8"/>
              </a:rPr>
              <a:t>www.lotetgaronne.fr/inclusion-numerique</a:t>
            </a:r>
            <a:br>
              <a:rPr sz="2400" b="1" i="0" u="none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endParaRPr sz="2200" b="1" i="0" u="none" dirty="0">
              <a:solidFill>
                <a:srgbClr val="4589BD"/>
              </a:solidFill>
              <a:latin typeface="Calibri"/>
              <a:cs typeface="Calibri"/>
            </a:endParaRPr>
          </a:p>
        </p:txBody>
      </p:sp>
      <p:pic>
        <p:nvPicPr>
          <p:cNvPr id="752833970" name="QR Code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 bwMode="auto">
          <a:xfrm>
            <a:off x="7502289" y="1733018"/>
            <a:ext cx="914397" cy="9143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/>
    </mc:Fallback>
  </mc:AlternateContent>
</p:sld>
</file>

<file path=ppt/theme/theme1.xml><?xml version="1.0" encoding="utf-8"?>
<a:theme xmlns:a="http://schemas.openxmlformats.org/drawingml/2006/main" name="Thème Offic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260803_Modèle_pres_ateliers_tronc_commun</Template>
  <TotalTime>6</TotalTime>
  <Words>469</Words>
  <Application>Microsoft Office PowerPoint</Application>
  <PresentationFormat>Grand écran</PresentationFormat>
  <Paragraphs>75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Montserrat ExtraBold</vt:lpstr>
      <vt:lpstr>Montserrat SemiBold</vt:lpstr>
      <vt:lpstr>Thème Office</vt:lpstr>
      <vt:lpstr>Titre de l’atelier</vt:lpstr>
      <vt:lpstr>Le Département en quelques mots...</vt:lpstr>
      <vt:lpstr>Le Département et le numérique</vt:lpstr>
      <vt:lpstr>Une équipe de conseillers numériques à votre service </vt:lpstr>
      <vt:lpstr>Sommaire</vt:lpstr>
      <vt:lpstr>Titre de la partie</vt:lpstr>
      <vt:lpstr>Titre de la diapositive</vt:lpstr>
      <vt:lpstr>Présentation PowerPoint</vt:lpstr>
      <vt:lpstr>Pour aller plus loin...</vt:lpstr>
      <vt:lpstr>Fin de la séance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Aswad Michel</dc:creator>
  <cp:lastModifiedBy>Aswad Michel</cp:lastModifiedBy>
  <cp:revision>1</cp:revision>
  <dcterms:created xsi:type="dcterms:W3CDTF">2026-08-06T09:04:47Z</dcterms:created>
  <dcterms:modified xsi:type="dcterms:W3CDTF">2026-08-06T09:10:53Z</dcterms:modified>
</cp:coreProperties>
</file>